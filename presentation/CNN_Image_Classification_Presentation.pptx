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5" r:id="rId9"/>
    <p:sldId id="268" r:id="rId10"/>
    <p:sldId id="266" r:id="rId11"/>
    <p:sldId id="264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2" d="100"/>
          <a:sy n="92" d="100"/>
        </p:scale>
        <p:origin x="72" y="50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742183-5CE3-40F4-AE4A-854F5138B3B7}" type="datetimeFigureOut">
              <a:rPr lang="es-ES" smtClean="0"/>
              <a:t>30/01/2026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1BBD0B-F696-4A4E-9B0D-C5966C910CF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53574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Done - Santi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1BBD0B-F696-4A4E-9B0D-C5966C910CFB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23204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Done - Santi</a:t>
            </a: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1BBD0B-F696-4A4E-9B0D-C5966C910CFB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92687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Done - Santi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1BBD0B-F696-4A4E-9B0D-C5966C910CFB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39889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Done - Santi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1BBD0B-F696-4A4E-9B0D-C5966C910CFB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16239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Done - Bianca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1BBD0B-F696-4A4E-9B0D-C5966C910CFB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457663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Done - Bianca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1BBD0B-F696-4A4E-9B0D-C5966C910CFB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57419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Done - Rodrigo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1BBD0B-F696-4A4E-9B0D-C5966C910CFB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541754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Done - Ben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1BBD0B-F696-4A4E-9B0D-C5966C910CFB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063278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Done - Ben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1BBD0B-F696-4A4E-9B0D-C5966C910CFB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962596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Done - Bianca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1BBD0B-F696-4A4E-9B0D-C5966C910CFB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12306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Done - Rodrigo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1BBD0B-F696-4A4E-9B0D-C5966C910CFB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54477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Done - Rodrigo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1BBD0B-F696-4A4E-9B0D-C5966C910CFB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7291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toronto.edu/~kriz/cifar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dirty="0" err="1"/>
              <a:t>Image</a:t>
            </a:r>
            <a:r>
              <a:rPr lang="es-ES" dirty="0"/>
              <a:t> </a:t>
            </a:r>
            <a:r>
              <a:rPr lang="es-ES" dirty="0" err="1"/>
              <a:t>classification</a:t>
            </a:r>
            <a:r>
              <a:rPr lang="es-ES" dirty="0"/>
              <a:t> </a:t>
            </a:r>
            <a:r>
              <a:rPr lang="es-ES" dirty="0" err="1"/>
              <a:t>using</a:t>
            </a:r>
            <a:r>
              <a:rPr lang="es-ES" dirty="0"/>
              <a:t> </a:t>
            </a:r>
            <a:r>
              <a:rPr lang="es-ES" dirty="0" err="1"/>
              <a:t>Convolutional</a:t>
            </a:r>
            <a:r>
              <a:rPr lang="es-ES" dirty="0"/>
              <a:t> Neural Networks</a:t>
            </a:r>
            <a:br>
              <a:rPr lang="es-ES" dirty="0"/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err="1"/>
              <a:t>IronHack</a:t>
            </a:r>
            <a:r>
              <a:rPr lang="en-US" sz="2400" dirty="0"/>
              <a:t> AI Engineering Bootcamp – Jan 2026</a:t>
            </a:r>
          </a:p>
          <a:p>
            <a:r>
              <a:rPr lang="en-US" sz="2400" dirty="0"/>
              <a:t>Group 1</a:t>
            </a:r>
          </a:p>
          <a:p>
            <a:r>
              <a:rPr sz="2400" dirty="0"/>
              <a:t>Team members: </a:t>
            </a:r>
            <a:r>
              <a:rPr lang="es-ES" sz="2400" dirty="0"/>
              <a:t>Bianca </a:t>
            </a:r>
            <a:r>
              <a:rPr lang="es-ES" sz="2400" dirty="0" err="1"/>
              <a:t>Radulescu</a:t>
            </a:r>
            <a:r>
              <a:rPr lang="es-ES" sz="2400" dirty="0"/>
              <a:t>, Ben Hunt, Rodrigo Torralba, Santiago </a:t>
            </a:r>
            <a:r>
              <a:rPr lang="es-ES" sz="2400" dirty="0" err="1"/>
              <a:t>Baron</a:t>
            </a:r>
            <a:endParaRPr sz="240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VGG type architecture model</a:t>
            </a:r>
          </a:p>
          <a:p>
            <a:pPr marL="0" indent="0">
              <a:buNone/>
            </a:pPr>
            <a:r>
              <a:rPr lang="en-US" sz="2400" dirty="0"/>
              <a:t>Test accuracy: 85%</a:t>
            </a:r>
          </a:p>
          <a:p>
            <a:pPr marL="0" indent="0">
              <a:buNone/>
            </a:pPr>
            <a:r>
              <a:rPr lang="en-US" sz="2400" dirty="0"/>
              <a:t>(image)</a:t>
            </a:r>
          </a:p>
          <a:p>
            <a:pPr marL="0" indent="0">
              <a:buNone/>
            </a:pPr>
            <a:endParaRPr lang="en-US" sz="2400" dirty="0"/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82296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Dataset</a:t>
            </a:r>
            <a:r>
              <a:rPr lang="es-ES" dirty="0"/>
              <a:t>:</a:t>
            </a:r>
            <a:r>
              <a:rPr dirty="0"/>
              <a:t> CIFAR-10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400" dirty="0"/>
              <a:t>60,000 color images (32×32)</a:t>
            </a:r>
          </a:p>
          <a:p>
            <a:r>
              <a:rPr sz="2400" dirty="0"/>
              <a:t>10 balanced classes</a:t>
            </a:r>
          </a:p>
          <a:p>
            <a:r>
              <a:rPr sz="2400" dirty="0"/>
              <a:t>50k training images, 10k test images</a:t>
            </a:r>
            <a:endParaRPr lang="es-ES" sz="2400" dirty="0"/>
          </a:p>
          <a:p>
            <a:r>
              <a:rPr lang="es-ES" sz="2400" dirty="0">
                <a:hlinkClick r:id="rId3"/>
              </a:rPr>
              <a:t>Link </a:t>
            </a:r>
            <a:r>
              <a:rPr lang="es-ES" sz="2400" dirty="0" err="1">
                <a:hlinkClick r:id="rId3"/>
              </a:rPr>
              <a:t>to</a:t>
            </a:r>
            <a:r>
              <a:rPr lang="es-ES" sz="2400" dirty="0">
                <a:hlinkClick r:id="rId3"/>
              </a:rPr>
              <a:t> </a:t>
            </a:r>
            <a:r>
              <a:rPr lang="es-ES" sz="2400" dirty="0" err="1">
                <a:hlinkClick r:id="rId3"/>
              </a:rPr>
              <a:t>dataset</a:t>
            </a:r>
            <a:endParaRPr sz="240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3</a:t>
            </a:r>
          </a:p>
        </p:txBody>
      </p:sp>
      <p:pic>
        <p:nvPicPr>
          <p:cNvPr id="6" name="Imagen 5" descr="Un conjunto de imágenes de una persona&#10;&#10;El contenido generado por IA puede ser incorrecto.">
            <a:extLst>
              <a:ext uri="{FF2B5EF4-FFF2-40B4-BE49-F238E27FC236}">
                <a16:creationId xmlns:a16="http://schemas.microsoft.com/office/drawing/2014/main" id="{EE3F32CA-3364-F9C9-7188-870C922B08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853" y="3792470"/>
            <a:ext cx="2758479" cy="21565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</a:t>
            </a:r>
            <a:r>
              <a:rPr dirty="0" err="1"/>
              <a:t>Preprocessin</a:t>
            </a:r>
            <a:r>
              <a:rPr lang="es-ES" dirty="0"/>
              <a:t>g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Normalization of pixel values</a:t>
            </a:r>
          </a:p>
          <a:p>
            <a:r>
              <a:rPr dirty="0"/>
              <a:t>Train / validation / test split</a:t>
            </a:r>
          </a:p>
          <a:p>
            <a:r>
              <a:rPr dirty="0"/>
              <a:t>One-hot encoding of labels</a:t>
            </a:r>
            <a:endParaRPr lang="es-ES" dirty="0"/>
          </a:p>
          <a:p>
            <a:r>
              <a:rPr lang="es-ES" dirty="0"/>
              <a:t>Data </a:t>
            </a:r>
            <a:r>
              <a:rPr lang="es-ES" dirty="0" err="1"/>
              <a:t>Augmentation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2296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CNN Architecture –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217920"/>
            <a:ext cx="30168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dirty="0"/>
              <a:t>5</a:t>
            </a:r>
            <a:endParaRPr dirty="0"/>
          </a:p>
        </p:txBody>
      </p:sp>
      <p:sp>
        <p:nvSpPr>
          <p:cNvPr id="5" name="AutoShape 2" descr="Imagen generada">
            <a:extLst>
              <a:ext uri="{FF2B5EF4-FFF2-40B4-BE49-F238E27FC236}">
                <a16:creationId xmlns:a16="http://schemas.microsoft.com/office/drawing/2014/main" id="{B3AD122C-63CD-C127-1EFE-D96C7F0D36F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B2DAAF4B-86F1-7980-130D-796EAC4F21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3429000"/>
            <a:ext cx="2427570" cy="2427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pic>
        <p:nvPicPr>
          <p:cNvPr id="8" name="Imagen 7" descr="Diagrama, Tabla&#10;&#10;El contenido generado por IA puede ser incorrecto.">
            <a:extLst>
              <a:ext uri="{FF2B5EF4-FFF2-40B4-BE49-F238E27FC236}">
                <a16:creationId xmlns:a16="http://schemas.microsoft.com/office/drawing/2014/main" id="{EFCDC212-BF59-217E-ABC3-68861B5BE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351" y="1159417"/>
            <a:ext cx="6679298" cy="4452865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6354482-5E63-AA76-E1E6-20BBDE6EA540}"/>
              </a:ext>
            </a:extLst>
          </p:cNvPr>
          <p:cNvSpPr txBox="1">
            <a:spLocks/>
          </p:cNvSpPr>
          <p:nvPr/>
        </p:nvSpPr>
        <p:spPr>
          <a:xfrm>
            <a:off x="1046985" y="4765404"/>
            <a:ext cx="7437904" cy="3871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500" dirty="0" err="1"/>
              <a:t>Hidden</a:t>
            </a:r>
            <a:r>
              <a:rPr lang="es-ES" sz="1500" dirty="0"/>
              <a:t> </a:t>
            </a:r>
            <a:r>
              <a:rPr lang="es-ES" sz="1500" dirty="0" err="1"/>
              <a:t>layers</a:t>
            </a:r>
            <a:r>
              <a:rPr lang="es-ES" sz="1500" dirty="0"/>
              <a:t>:</a:t>
            </a:r>
            <a:br>
              <a:rPr lang="es-ES" sz="1500" dirty="0"/>
            </a:br>
            <a:r>
              <a:rPr lang="es-ES" sz="1500" dirty="0" err="1"/>
              <a:t>Convolution</a:t>
            </a:r>
            <a:r>
              <a:rPr lang="es-ES" sz="1500" dirty="0"/>
              <a:t> → </a:t>
            </a:r>
            <a:r>
              <a:rPr lang="es-ES" sz="1500" dirty="0" err="1"/>
              <a:t>Batch</a:t>
            </a:r>
            <a:r>
              <a:rPr lang="es-ES" sz="1500" dirty="0"/>
              <a:t> </a:t>
            </a:r>
            <a:r>
              <a:rPr lang="es-ES" sz="1500" dirty="0" err="1"/>
              <a:t>normalization</a:t>
            </a:r>
            <a:r>
              <a:rPr lang="es-ES" sz="1500" dirty="0"/>
              <a:t> → </a:t>
            </a:r>
            <a:r>
              <a:rPr lang="es-ES" sz="1500" dirty="0" err="1"/>
              <a:t>Conv</a:t>
            </a:r>
            <a:r>
              <a:rPr lang="es-ES" sz="1500" dirty="0"/>
              <a:t> → BN → </a:t>
            </a:r>
            <a:r>
              <a:rPr lang="es-ES" sz="1500" dirty="0" err="1"/>
              <a:t>MaxPooling</a:t>
            </a:r>
            <a:r>
              <a:rPr lang="es-ES" sz="1500" dirty="0"/>
              <a:t> → </a:t>
            </a:r>
            <a:r>
              <a:rPr lang="es-ES" sz="1500" dirty="0" err="1"/>
              <a:t>Dropout</a:t>
            </a:r>
            <a:br>
              <a:rPr lang="es-ES" sz="1500" dirty="0"/>
            </a:br>
            <a:r>
              <a:rPr lang="es-ES" sz="1500" dirty="0" err="1"/>
              <a:t>that</a:t>
            </a:r>
            <a:r>
              <a:rPr lang="es-ES" sz="1500" dirty="0"/>
              <a:t> </a:t>
            </a:r>
            <a:r>
              <a:rPr lang="es-ES" sz="1500" dirty="0" err="1"/>
              <a:t>is</a:t>
            </a:r>
            <a:r>
              <a:rPr lang="es-ES" sz="1500" dirty="0"/>
              <a:t>: </a:t>
            </a:r>
            <a:r>
              <a:rPr lang="es-ES" sz="1500" dirty="0" err="1"/>
              <a:t>extract</a:t>
            </a:r>
            <a:r>
              <a:rPr lang="es-ES" sz="1500" dirty="0"/>
              <a:t> </a:t>
            </a:r>
            <a:r>
              <a:rPr lang="es-ES" sz="1500" dirty="0" err="1"/>
              <a:t>patterns</a:t>
            </a:r>
            <a:r>
              <a:rPr lang="es-ES" sz="1500" dirty="0"/>
              <a:t> → </a:t>
            </a:r>
            <a:r>
              <a:rPr lang="es-ES" sz="1500" dirty="0" err="1"/>
              <a:t>normalize</a:t>
            </a:r>
            <a:r>
              <a:rPr lang="es-ES" sz="1500" dirty="0"/>
              <a:t> → </a:t>
            </a:r>
            <a:r>
              <a:rPr lang="es-ES" sz="1500" dirty="0" err="1"/>
              <a:t>extract</a:t>
            </a:r>
            <a:r>
              <a:rPr lang="es-ES" sz="1500" dirty="0"/>
              <a:t> </a:t>
            </a:r>
            <a:r>
              <a:rPr lang="es-ES" sz="1500" dirty="0" err="1"/>
              <a:t>patterns</a:t>
            </a:r>
            <a:r>
              <a:rPr lang="es-ES" sz="1500" dirty="0"/>
              <a:t> → </a:t>
            </a:r>
            <a:r>
              <a:rPr lang="es-ES" sz="1500" dirty="0" err="1"/>
              <a:t>normalize</a:t>
            </a:r>
            <a:r>
              <a:rPr lang="es-ES" sz="1500" dirty="0"/>
              <a:t> → reduce </a:t>
            </a:r>
            <a:r>
              <a:rPr lang="es-ES" sz="1500" dirty="0" err="1"/>
              <a:t>size</a:t>
            </a:r>
            <a:r>
              <a:rPr lang="es-ES" sz="1500" dirty="0"/>
              <a:t> → </a:t>
            </a:r>
            <a:r>
              <a:rPr lang="es-ES" sz="1500" dirty="0" err="1"/>
              <a:t>avoid</a:t>
            </a:r>
            <a:r>
              <a:rPr lang="es-ES" sz="1500" dirty="0"/>
              <a:t> </a:t>
            </a:r>
          </a:p>
          <a:p>
            <a:pPr marL="0" indent="0">
              <a:buFont typeface="Arial"/>
              <a:buNone/>
            </a:pPr>
            <a:br>
              <a:rPr lang="es-ES" sz="1500" dirty="0"/>
            </a:br>
            <a:r>
              <a:rPr lang="es-ES" sz="1500" dirty="0"/>
              <a:t>Output </a:t>
            </a:r>
            <a:r>
              <a:rPr lang="es-ES" sz="1500" dirty="0" err="1"/>
              <a:t>layer</a:t>
            </a:r>
            <a:r>
              <a:rPr lang="es-ES" sz="1500" dirty="0"/>
              <a:t>:</a:t>
            </a:r>
          </a:p>
          <a:p>
            <a:pPr marL="0" indent="0">
              <a:buNone/>
            </a:pPr>
            <a:r>
              <a:rPr lang="es-ES" sz="1500" dirty="0"/>
              <a:t>GAP → Dense </a:t>
            </a:r>
            <a:r>
              <a:rPr lang="es-ES" sz="1500" dirty="0" err="1"/>
              <a:t>neurons</a:t>
            </a:r>
            <a:r>
              <a:rPr lang="es-ES" sz="1500" dirty="0"/>
              <a:t> → </a:t>
            </a:r>
            <a:r>
              <a:rPr lang="es-ES" sz="1500" dirty="0" err="1"/>
              <a:t>dropout</a:t>
            </a:r>
            <a:r>
              <a:rPr lang="es-ES" sz="1500" dirty="0"/>
              <a:t> → </a:t>
            </a:r>
            <a:r>
              <a:rPr lang="es-ES" sz="1500" dirty="0" err="1"/>
              <a:t>softmax</a:t>
            </a:r>
            <a:endParaRPr lang="es-ES" sz="1500" dirty="0"/>
          </a:p>
          <a:p>
            <a:endParaRPr lang="es-ES" sz="1400" dirty="0"/>
          </a:p>
          <a:p>
            <a:endParaRPr lang="es-E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7373220" cy="330715"/>
          </a:xfrm>
        </p:spPr>
        <p:txBody>
          <a:bodyPr>
            <a:normAutofit fontScale="92500" lnSpcReduction="20000"/>
          </a:bodyPr>
          <a:lstStyle/>
          <a:p>
            <a:r>
              <a:rPr lang="es-ES" sz="2000" dirty="0"/>
              <a:t>VGG </a:t>
            </a:r>
            <a:r>
              <a:rPr lang="es-ES" sz="2000" dirty="0" err="1"/>
              <a:t>type</a:t>
            </a:r>
            <a:r>
              <a:rPr lang="es-ES" sz="2000" dirty="0"/>
              <a:t> </a:t>
            </a:r>
            <a:r>
              <a:rPr lang="es-ES" sz="2000" dirty="0" err="1"/>
              <a:t>architecture</a:t>
            </a:r>
            <a:r>
              <a:rPr lang="es-ES" sz="2000" dirty="0"/>
              <a:t> </a:t>
            </a:r>
            <a:r>
              <a:rPr lang="es-ES" sz="2000" dirty="0" err="1"/>
              <a:t>optimised</a:t>
            </a:r>
            <a:r>
              <a:rPr lang="es-ES" sz="2000" dirty="0"/>
              <a:t> </a:t>
            </a:r>
            <a:r>
              <a:rPr lang="es-ES" sz="2000" dirty="0" err="1"/>
              <a:t>for</a:t>
            </a:r>
            <a:r>
              <a:rPr lang="es-ES" sz="2000" dirty="0"/>
              <a:t> </a:t>
            </a:r>
            <a:r>
              <a:rPr lang="es-ES" sz="2000" dirty="0" err="1"/>
              <a:t>dataset</a:t>
            </a:r>
            <a:endParaRPr lang="es-ES" sz="2000" dirty="0"/>
          </a:p>
          <a:p>
            <a:endParaRPr lang="es-ES" sz="1400" dirty="0"/>
          </a:p>
          <a:p>
            <a:endParaRPr lang="es-E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CNN Architecture – Evolution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7363" y="1412442"/>
            <a:ext cx="7907482" cy="1288473"/>
          </a:xfrm>
        </p:spPr>
        <p:txBody>
          <a:bodyPr>
            <a:normAutofit fontScale="55000" lnSpcReduction="20000"/>
          </a:bodyPr>
          <a:lstStyle/>
          <a:p>
            <a:r>
              <a:rPr sz="2900" dirty="0"/>
              <a:t>Started with </a:t>
            </a:r>
            <a:r>
              <a:rPr lang="es-ES" sz="2900" dirty="0" err="1"/>
              <a:t>basic</a:t>
            </a:r>
            <a:r>
              <a:rPr lang="es-ES" sz="2900" dirty="0"/>
              <a:t> </a:t>
            </a:r>
            <a:r>
              <a:rPr sz="2900" dirty="0"/>
              <a:t>CNN</a:t>
            </a:r>
            <a:r>
              <a:rPr lang="es-ES" sz="2900" dirty="0"/>
              <a:t> (2 </a:t>
            </a:r>
            <a:r>
              <a:rPr lang="es-ES" sz="2900" dirty="0" err="1"/>
              <a:t>layers</a:t>
            </a:r>
            <a:r>
              <a:rPr lang="es-ES" sz="2900" dirty="0"/>
              <a:t>) – 50% </a:t>
            </a:r>
            <a:r>
              <a:rPr lang="es-ES" sz="2900" dirty="0" err="1"/>
              <a:t>accuracy</a:t>
            </a:r>
            <a:endParaRPr lang="es-ES" sz="2900" dirty="0"/>
          </a:p>
          <a:p>
            <a:pPr lvl="1"/>
            <a:r>
              <a:rPr lang="es-ES" sz="2900" dirty="0" err="1"/>
              <a:t>Tested</a:t>
            </a:r>
            <a:r>
              <a:rPr lang="es-ES" sz="2900" dirty="0"/>
              <a:t> </a:t>
            </a:r>
            <a:r>
              <a:rPr lang="es-ES" sz="2900" dirty="0" err="1"/>
              <a:t>Resnet</a:t>
            </a:r>
            <a:r>
              <a:rPr lang="es-ES" sz="2900" dirty="0"/>
              <a:t> </a:t>
            </a:r>
            <a:r>
              <a:rPr lang="es-ES" sz="2900" dirty="0" err="1"/>
              <a:t>arquitecture</a:t>
            </a:r>
            <a:r>
              <a:rPr lang="es-ES" sz="2900" dirty="0"/>
              <a:t>: </a:t>
            </a:r>
            <a:r>
              <a:rPr lang="es-ES" sz="2900" dirty="0" err="1"/>
              <a:t>not</a:t>
            </a:r>
            <a:r>
              <a:rPr lang="es-ES" sz="2900" dirty="0"/>
              <a:t> </a:t>
            </a:r>
            <a:r>
              <a:rPr lang="es-ES" sz="2900" dirty="0" err="1"/>
              <a:t>significant</a:t>
            </a:r>
            <a:r>
              <a:rPr lang="es-ES" sz="2900" dirty="0"/>
              <a:t> </a:t>
            </a:r>
            <a:r>
              <a:rPr lang="es-ES" sz="2900" dirty="0" err="1"/>
              <a:t>improvement</a:t>
            </a:r>
            <a:endParaRPr sz="2900" dirty="0"/>
          </a:p>
          <a:p>
            <a:r>
              <a:rPr sz="2900" dirty="0"/>
              <a:t>Increased depth and capacity</a:t>
            </a:r>
            <a:r>
              <a:rPr lang="es-ES" sz="2900" dirty="0"/>
              <a:t>: 85% </a:t>
            </a:r>
            <a:r>
              <a:rPr lang="es-ES" sz="2900" dirty="0" err="1"/>
              <a:t>accuracy</a:t>
            </a:r>
            <a:endParaRPr lang="es-ES" sz="2900" dirty="0"/>
          </a:p>
          <a:p>
            <a:pPr marL="0" indent="0">
              <a:buNone/>
            </a:pPr>
            <a:r>
              <a:rPr lang="es-ES" sz="2900" dirty="0"/>
              <a:t>	+ </a:t>
            </a:r>
            <a:r>
              <a:rPr lang="es-ES" sz="2900" dirty="0" err="1"/>
              <a:t>layers</a:t>
            </a:r>
            <a:r>
              <a:rPr lang="es-ES" sz="2900" dirty="0"/>
              <a:t> </a:t>
            </a:r>
          </a:p>
          <a:p>
            <a:pPr marL="0" indent="0">
              <a:buNone/>
            </a:pPr>
            <a:r>
              <a:rPr lang="es-ES" sz="2900" dirty="0"/>
              <a:t>	+ </a:t>
            </a:r>
            <a:r>
              <a:rPr lang="es-ES" sz="2900" dirty="0" err="1"/>
              <a:t>tuning</a:t>
            </a:r>
            <a:r>
              <a:rPr lang="es-ES" sz="2900" dirty="0"/>
              <a:t> </a:t>
            </a:r>
          </a:p>
          <a:p>
            <a:pPr marL="0" indent="0">
              <a:buNone/>
            </a:pPr>
            <a:endParaRPr sz="240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0" y="6217920"/>
            <a:ext cx="30168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dirty="0"/>
              <a:t>6</a:t>
            </a:r>
            <a:endParaRPr dirty="0"/>
          </a:p>
        </p:txBody>
      </p:sp>
      <p:pic>
        <p:nvPicPr>
          <p:cNvPr id="6" name="Imagen 5" descr="Imagen que contiene interior, estante, llenado, tabla&#10;&#10;El contenido generado por IA puede ser incorrecto.">
            <a:extLst>
              <a:ext uri="{FF2B5EF4-FFF2-40B4-BE49-F238E27FC236}">
                <a16:creationId xmlns:a16="http://schemas.microsoft.com/office/drawing/2014/main" id="{22C6973F-E563-C7B6-DB95-B01B7D8F3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49" y="2976995"/>
            <a:ext cx="8120496" cy="22293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Optimization Techniques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2400" dirty="0" err="1"/>
              <a:t>Larger</a:t>
            </a:r>
            <a:r>
              <a:rPr lang="es-ES" sz="2400" dirty="0"/>
              <a:t> </a:t>
            </a:r>
            <a:r>
              <a:rPr lang="es-ES" sz="2400" dirty="0" err="1"/>
              <a:t>impact</a:t>
            </a:r>
            <a:r>
              <a:rPr lang="es-ES" sz="2400" dirty="0"/>
              <a:t>: </a:t>
            </a:r>
          </a:p>
          <a:p>
            <a:pPr lvl="1"/>
            <a:r>
              <a:rPr lang="es-ES" sz="2000" dirty="0" err="1"/>
              <a:t>Layers</a:t>
            </a:r>
            <a:r>
              <a:rPr lang="es-ES" sz="2000" dirty="0"/>
              <a:t>/</a:t>
            </a:r>
            <a:r>
              <a:rPr lang="es-ES" sz="2000" dirty="0" err="1"/>
              <a:t>neurons</a:t>
            </a:r>
            <a:endParaRPr lang="es-ES" sz="2000" dirty="0"/>
          </a:p>
          <a:p>
            <a:pPr lvl="1"/>
            <a:r>
              <a:rPr lang="es-ES" sz="2000" dirty="0"/>
              <a:t>Adam </a:t>
            </a:r>
            <a:r>
              <a:rPr lang="es-ES" sz="2000" dirty="0" err="1"/>
              <a:t>optimizer</a:t>
            </a:r>
            <a:r>
              <a:rPr lang="es-ES" sz="2000" dirty="0"/>
              <a:t>, </a:t>
            </a:r>
            <a:r>
              <a:rPr lang="es-ES" sz="2000" dirty="0" err="1"/>
              <a:t>augmentation</a:t>
            </a:r>
            <a:r>
              <a:rPr lang="es-ES" sz="2000" dirty="0"/>
              <a:t>, General </a:t>
            </a:r>
            <a:r>
              <a:rPr lang="es-ES" sz="2000" dirty="0" err="1"/>
              <a:t>Average</a:t>
            </a:r>
            <a:r>
              <a:rPr lang="es-ES" sz="2000" dirty="0"/>
              <a:t> </a:t>
            </a:r>
            <a:r>
              <a:rPr lang="es-ES" sz="2000" dirty="0" err="1"/>
              <a:t>Pooling</a:t>
            </a:r>
            <a:r>
              <a:rPr lang="es-ES" sz="2000" dirty="0"/>
              <a:t>, BN, </a:t>
            </a:r>
            <a:r>
              <a:rPr lang="es-ES" sz="2000" dirty="0" err="1"/>
              <a:t>dropout</a:t>
            </a:r>
            <a:r>
              <a:rPr lang="es-ES" sz="2000" dirty="0"/>
              <a:t>.</a:t>
            </a:r>
          </a:p>
          <a:p>
            <a:endParaRPr lang="es-ES" sz="2400" dirty="0"/>
          </a:p>
          <a:p>
            <a:r>
              <a:rPr lang="en-US" sz="2400" dirty="0"/>
              <a:t>Smaller impact: </a:t>
            </a:r>
          </a:p>
          <a:p>
            <a:pPr lvl="1"/>
            <a:r>
              <a:rPr lang="es-ES" sz="2000" dirty="0"/>
              <a:t>L2 </a:t>
            </a:r>
            <a:r>
              <a:rPr lang="es-ES" sz="2000" dirty="0" err="1"/>
              <a:t>regularization</a:t>
            </a:r>
            <a:r>
              <a:rPr lang="es-ES" sz="2000" dirty="0"/>
              <a:t>, </a:t>
            </a:r>
            <a:r>
              <a:rPr lang="es-ES" sz="2000" dirty="0" err="1"/>
              <a:t>learning</a:t>
            </a:r>
            <a:r>
              <a:rPr lang="es-ES" sz="2000" dirty="0"/>
              <a:t> </a:t>
            </a:r>
            <a:r>
              <a:rPr lang="es-ES" sz="2000" dirty="0" err="1"/>
              <a:t>rate</a:t>
            </a:r>
            <a:r>
              <a:rPr lang="es-ES" sz="2000" dirty="0"/>
              <a:t>,</a:t>
            </a:r>
            <a:r>
              <a:rPr lang="en-US" sz="2000" dirty="0"/>
              <a:t> </a:t>
            </a:r>
            <a:r>
              <a:rPr lang="es-ES" sz="2000" dirty="0" err="1"/>
              <a:t>early</a:t>
            </a:r>
            <a:r>
              <a:rPr lang="es-ES" sz="2000" dirty="0"/>
              <a:t> </a:t>
            </a:r>
            <a:r>
              <a:rPr lang="es-ES" sz="2000" dirty="0" err="1"/>
              <a:t>stopping</a:t>
            </a:r>
            <a:r>
              <a:rPr lang="es-ES" sz="2000" dirty="0"/>
              <a:t>, b</a:t>
            </a:r>
            <a:r>
              <a:rPr lang="en-US" sz="2000" dirty="0" err="1"/>
              <a:t>atch</a:t>
            </a:r>
            <a:r>
              <a:rPr lang="en-US" sz="2000" dirty="0"/>
              <a:t>-size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217920"/>
            <a:ext cx="30168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dirty="0"/>
              <a:t>7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217920"/>
            <a:ext cx="30168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dirty="0"/>
              <a:t>9</a:t>
            </a:r>
            <a:endParaRPr dirty="0"/>
          </a:p>
        </p:txBody>
      </p:sp>
      <p:pic>
        <p:nvPicPr>
          <p:cNvPr id="22" name="Imagen 21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8DD77EB2-F855-0D6E-A234-CCEC7BF6B4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84" y="2542972"/>
            <a:ext cx="7964632" cy="23361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ADB9B-CAB0-30F5-1F99-3DBDF4074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559AC-CF6C-D4E6-D74B-9F9B6C37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11D84D-681B-8A7E-2666-B3B1D2792D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8517" y="-662782"/>
            <a:ext cx="8229600" cy="4525963"/>
          </a:xfrm>
        </p:spPr>
        <p:txBody>
          <a:bodyPr>
            <a:normAutofit/>
          </a:bodyPr>
          <a:lstStyle/>
          <a:p>
            <a:r>
              <a:rPr sz="900" dirty="0"/>
              <a:t>Accuracy, Loss, F1-score</a:t>
            </a:r>
          </a:p>
          <a:p>
            <a:r>
              <a:rPr sz="900" dirty="0"/>
              <a:t>Confusion matrix analysis</a:t>
            </a:r>
          </a:p>
          <a:p>
            <a:r>
              <a:rPr sz="900" dirty="0"/>
              <a:t>Training vs validation curves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1CFF97-F47F-38AC-D37A-4CC863D43971}"/>
              </a:ext>
            </a:extLst>
          </p:cNvPr>
          <p:cNvSpPr txBox="1"/>
          <p:nvPr/>
        </p:nvSpPr>
        <p:spPr>
          <a:xfrm>
            <a:off x="8358268" y="6217920"/>
            <a:ext cx="30168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dirty="0"/>
              <a:t>9</a:t>
            </a:r>
            <a:endParaRPr dirty="0"/>
          </a:p>
        </p:txBody>
      </p:sp>
      <p:pic>
        <p:nvPicPr>
          <p:cNvPr id="6" name="Imagen 5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07A71FD0-44A5-90A9-5CD7-4B4909094D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472" y="4162067"/>
            <a:ext cx="4420689" cy="1710217"/>
          </a:xfrm>
          <a:prstGeom prst="rect">
            <a:avLst/>
          </a:prstGeom>
        </p:spPr>
      </p:pic>
      <p:pic>
        <p:nvPicPr>
          <p:cNvPr id="8" name="Imagen 7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8B3522FE-9915-FA50-E8C9-2DB5E9619A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518" y="1798179"/>
            <a:ext cx="4414850" cy="1780990"/>
          </a:xfrm>
          <a:prstGeom prst="rect">
            <a:avLst/>
          </a:prstGeom>
        </p:spPr>
      </p:pic>
      <p:pic>
        <p:nvPicPr>
          <p:cNvPr id="7" name="Imagen 6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174C1A0B-4B61-4C04-2D74-0A9B3D0C96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5151" y="1863971"/>
            <a:ext cx="4281699" cy="1649407"/>
          </a:xfrm>
          <a:prstGeom prst="rect">
            <a:avLst/>
          </a:prstGeom>
        </p:spPr>
      </p:pic>
      <p:pic>
        <p:nvPicPr>
          <p:cNvPr id="12" name="Imagen 11" descr="Imagen que contiene Calendario&#10;&#10;El contenido generado por IA puede ser incorrecto.">
            <a:extLst>
              <a:ext uri="{FF2B5EF4-FFF2-40B4-BE49-F238E27FC236}">
                <a16:creationId xmlns:a16="http://schemas.microsoft.com/office/drawing/2014/main" id="{642AD52A-048E-E305-8DAD-F495573E74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3266" y="3644311"/>
            <a:ext cx="3115002" cy="264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907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Deployment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Interactive </a:t>
            </a:r>
            <a:r>
              <a:rPr lang="en-US" sz="2400" dirty="0" err="1"/>
              <a:t>Gradio</a:t>
            </a:r>
            <a:r>
              <a:rPr lang="en-US" sz="2400" dirty="0"/>
              <a:t> web app</a:t>
            </a:r>
          </a:p>
          <a:p>
            <a:r>
              <a:rPr lang="en-US" sz="2400" dirty="0"/>
              <a:t>User uploads image for prediction</a:t>
            </a:r>
          </a:p>
          <a:p>
            <a:r>
              <a:rPr lang="en-US" sz="2400" dirty="0"/>
              <a:t>Real-time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217920"/>
            <a:ext cx="41870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dirty="0"/>
              <a:t>10</a:t>
            </a:r>
            <a:endParaRPr dirty="0"/>
          </a:p>
        </p:txBody>
      </p:sp>
      <p:pic>
        <p:nvPicPr>
          <p:cNvPr id="8" name="Imagen 7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88C5BD8D-C43F-7F7D-EBFC-9D27E6579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9973" y="3171116"/>
            <a:ext cx="5813714" cy="30009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Transfer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Pretrained ResNet50 model from </a:t>
            </a:r>
            <a:r>
              <a:rPr lang="en-US" sz="2400" dirty="0" err="1"/>
              <a:t>keras</a:t>
            </a:r>
            <a:r>
              <a:rPr lang="en-US" sz="2400" dirty="0"/>
              <a:t> library</a:t>
            </a:r>
          </a:p>
          <a:p>
            <a:r>
              <a:rPr lang="en-US" sz="2400" dirty="0"/>
              <a:t>Preprocessing</a:t>
            </a:r>
          </a:p>
          <a:p>
            <a:r>
              <a:rPr lang="en-US" sz="2400" dirty="0"/>
              <a:t>Feature extractor</a:t>
            </a:r>
          </a:p>
          <a:p>
            <a:r>
              <a:rPr lang="en-US" sz="2400" dirty="0"/>
              <a:t>Compared performance vs custom CNN: 95% vs 85%</a:t>
            </a:r>
          </a:p>
          <a:p>
            <a:pPr marL="0" indent="0">
              <a:buNone/>
            </a:pPr>
            <a:r>
              <a:rPr lang="en-US" sz="2400" dirty="0"/>
              <a:t> </a:t>
            </a:r>
          </a:p>
          <a:p>
            <a:endParaRPr lang="es-ES" dirty="0"/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229600" y="6217920"/>
            <a:ext cx="41870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dirty="0"/>
              <a:t>11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Recap &amp; Learnings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/>
              <a:t>Different</a:t>
            </a:r>
            <a:r>
              <a:rPr lang="es-ES" dirty="0"/>
              <a:t> CNN </a:t>
            </a:r>
            <a:r>
              <a:rPr lang="es-ES" dirty="0" err="1"/>
              <a:t>architectures</a:t>
            </a:r>
            <a:endParaRPr lang="es-ES" dirty="0"/>
          </a:p>
          <a:p>
            <a:r>
              <a:rPr lang="es-ES" dirty="0" err="1"/>
              <a:t>Systematic</a:t>
            </a:r>
            <a:r>
              <a:rPr lang="es-ES" dirty="0"/>
              <a:t> </a:t>
            </a:r>
            <a:r>
              <a:rPr lang="es-ES" dirty="0" err="1"/>
              <a:t>tuning</a:t>
            </a:r>
            <a:endParaRPr lang="es-ES" dirty="0"/>
          </a:p>
          <a:p>
            <a:r>
              <a:rPr lang="es-ES" dirty="0" err="1"/>
              <a:t>Image</a:t>
            </a:r>
            <a:r>
              <a:rPr lang="es-ES" dirty="0"/>
              <a:t> </a:t>
            </a:r>
            <a:r>
              <a:rPr lang="es-ES" dirty="0" err="1"/>
              <a:t>handling</a:t>
            </a:r>
            <a:r>
              <a:rPr lang="es-ES" dirty="0"/>
              <a:t> and </a:t>
            </a:r>
            <a:r>
              <a:rPr lang="es-ES" dirty="0" err="1"/>
              <a:t>prediction</a:t>
            </a:r>
            <a:r>
              <a:rPr lang="es-ES" dirty="0"/>
              <a:t> </a:t>
            </a:r>
            <a:r>
              <a:rPr lang="es-ES" dirty="0" err="1"/>
              <a:t>by</a:t>
            </a:r>
            <a:r>
              <a:rPr lang="es-ES" dirty="0"/>
              <a:t> </a:t>
            </a:r>
            <a:r>
              <a:rPr lang="es-ES" dirty="0" err="1"/>
              <a:t>models</a:t>
            </a:r>
            <a:endParaRPr lang="es-ES" dirty="0"/>
          </a:p>
          <a:p>
            <a:r>
              <a:rPr lang="es-ES" dirty="0" err="1"/>
              <a:t>Contact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pre-trained</a:t>
            </a:r>
            <a:r>
              <a:rPr lang="es-ES" dirty="0"/>
              <a:t> </a:t>
            </a:r>
            <a:r>
              <a:rPr lang="es-ES" dirty="0" err="1"/>
              <a:t>models</a:t>
            </a:r>
            <a:endParaRPr lang="es-ES" dirty="0"/>
          </a:p>
          <a:p>
            <a:r>
              <a:rPr lang="es-ES" dirty="0" err="1"/>
              <a:t>First</a:t>
            </a:r>
            <a:r>
              <a:rPr lang="es-ES" dirty="0"/>
              <a:t> </a:t>
            </a:r>
            <a:r>
              <a:rPr lang="es-ES" dirty="0" err="1"/>
              <a:t>deployment</a:t>
            </a:r>
            <a:r>
              <a:rPr lang="es-ES" dirty="0"/>
              <a:t>  : )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2296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349</Words>
  <Application>Microsoft Office PowerPoint</Application>
  <PresentationFormat>Presentación en pantalla (4:3)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Image classification using Convolutional Neural Networks </vt:lpstr>
      <vt:lpstr>Executive Summary</vt:lpstr>
      <vt:lpstr>Dataset: CIFAR-10</vt:lpstr>
      <vt:lpstr>Data Preprocessing</vt:lpstr>
      <vt:lpstr>CNN Architecture – Design</vt:lpstr>
      <vt:lpstr>CNN Architecture – Evolution</vt:lpstr>
      <vt:lpstr>Optimization Techniques</vt:lpstr>
      <vt:lpstr>Evaluation Metrics</vt:lpstr>
      <vt:lpstr>Evaluation Metrics</vt:lpstr>
      <vt:lpstr>Model Deployment</vt:lpstr>
      <vt:lpstr>Transfer Learning</vt:lpstr>
      <vt:lpstr>Project Recap &amp; Learnings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Santiago Barón</cp:lastModifiedBy>
  <cp:revision>2</cp:revision>
  <dcterms:created xsi:type="dcterms:W3CDTF">2013-01-27T09:14:16Z</dcterms:created>
  <dcterms:modified xsi:type="dcterms:W3CDTF">2026-01-30T15:10:29Z</dcterms:modified>
  <cp:category/>
</cp:coreProperties>
</file>